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365760"/>
            <a:ext cx="320040" cy="32004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766560" y="365760"/>
            <a:ext cx="320040" cy="32004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0" y="365760"/>
            <a:ext cx="320040" cy="32004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863840" y="365760"/>
            <a:ext cx="320040" cy="32004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32320" y="1280160"/>
            <a:ext cx="548640" cy="548640"/>
          </a:xfrm>
          <a:prstGeom prst="ellipse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046720" y="2011680"/>
            <a:ext cx="1097280" cy="1097280"/>
          </a:xfrm>
          <a:prstGeom prst="ellipse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0" y="2743200"/>
            <a:ext cx="731520" cy="73152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8229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AI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65760" y="15544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Assistant Platform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2286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060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H100 GPU Resource Proposal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" y="3063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Center of Excellence  ·  May 2026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0D9488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9319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572768" y="393192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0D9488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572768" y="39319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79776" y="393192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0D9488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779776" y="39319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986784" y="393192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0D9488">
              <a:alpha val="7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986784" y="39319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teams lose ~2 hrs/day to fragmented knowledge.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0690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91440" cy="1143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5727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Silos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15568" y="1920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Confluence, Jira, Git, SharePoint — no unified search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00600" y="1463040"/>
            <a:ext cx="40690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1463040"/>
            <a:ext cx="91440" cy="1143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50408" y="15727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Incident Resolution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550408" y="1920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knowledge delays MTTR significantly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2834640"/>
            <a:ext cx="40690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2834640"/>
            <a:ext cx="91440" cy="1143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01752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15568" y="29443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Onboarding Cost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15568" y="3291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engineers take weeks to navigate systems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00600" y="2834640"/>
            <a:ext cx="40690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00600" y="2834640"/>
            <a:ext cx="91440" cy="1143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01752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50408" y="29443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Procedures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550408" y="3291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teams use outdated or conflicting runbooks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6" name="Text 20"/>
          <p:cNvSpPr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100–150 engineering users  ·  Est. 500–900 hrs/month recoverable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OPPORTUNITY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697480" cy="1737360"/>
          </a:xfrm>
          <a:prstGeom prst="rect">
            <a:avLst/>
          </a:prstGeom>
          <a:solidFill>
            <a:srgbClr val="1A315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269748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25–35%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search &amp; troubleshooting effort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777240"/>
            <a:ext cx="2697480" cy="1737360"/>
          </a:xfrm>
          <a:prstGeom prst="rect">
            <a:avLst/>
          </a:prstGeom>
          <a:solidFill>
            <a:srgbClr val="1A315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777240"/>
            <a:ext cx="269748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9601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500–900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83280" y="17830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hours saved per month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777240"/>
            <a:ext cx="2697480" cy="1737360"/>
          </a:xfrm>
          <a:prstGeom prst="rect">
            <a:avLst/>
          </a:prstGeom>
          <a:solidFill>
            <a:srgbClr val="1A315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777240"/>
            <a:ext cx="269748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9601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MTTR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09360" y="17830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incident resolution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Value</a:t>
            </a:r>
            <a:endParaRPr lang="en-US" sz="15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46120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31520" y="32004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dependency on external AI providers (cost + control)</a:t>
            </a:r>
            <a:endParaRPr lang="en-US" sz="13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0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1520" y="36118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platform across multiple Fiserv business units</a:t>
            </a:r>
            <a:endParaRPr lang="en-US" sz="13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069080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31520" y="40233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institutional knowledge retention</a:t>
            </a:r>
            <a:endParaRPr lang="en-US" sz="13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48056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1520" y="44348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internal AI automation initiatives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internal AI assistant built on open-weight LLMs + enterprise RAG.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7432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2743200" cy="7315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55448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153619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RAG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199339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BM25 + vector retrieval over Confluence, Jira, Git, SharePoint, ServiceNow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82112" y="1371600"/>
            <a:ext cx="27432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82112" y="1371600"/>
            <a:ext cx="2743200" cy="7315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155448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03904" y="153619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Fine-Tuning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19272" y="199339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LoRA/QLoRA on 7B–32B OSS models (Llama, Qwen, Mistral, DeepSeek)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89904" y="1371600"/>
            <a:ext cx="27432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89904" y="1371600"/>
            <a:ext cx="2743200" cy="7315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55448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11696" y="153619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27064" y="199339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Tool-integrated agents for incident triage, runbook execution, ticket routing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274320" y="2880360"/>
            <a:ext cx="27432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74320" y="2880360"/>
            <a:ext cx="2743200" cy="7315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06324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6112" y="30449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Security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11480" y="350215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PII/PCI filtering, audit logging, internal-only endpoints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182112" y="2880360"/>
            <a:ext cx="27432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182112" y="2880360"/>
            <a:ext cx="2743200" cy="7315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704" y="3063240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03904" y="30449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Suite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319272" y="350215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&gt;85% retrieval precision target, hallucination benchmarks, latency SLAs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089904" y="2880360"/>
            <a:ext cx="27432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089904" y="2880360"/>
            <a:ext cx="2743200" cy="7315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3063240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11696" y="30449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Infra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227064" y="350215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+ Kubernetes + OpenTelemetry — runs entirely on internal infrastructure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SEPARATION STRATEGY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 behavior. Retrieve knowledge. Never conflate the two.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3840480" cy="3429000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384048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25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into Model Weights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2024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8836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terminology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22576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2286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reasoning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2491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7240" y="26883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conventions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127248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77240" y="30906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logic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529584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77240" y="34930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response patterns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931920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77240" y="38953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usage patterns</a:t>
            </a:r>
            <a:endParaRPr lang="en-US" sz="11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334256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77240" y="42976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behavior</a:t>
            </a:r>
            <a:endParaRPr lang="en-US" sz="1100" dirty="0"/>
          </a:p>
        </p:txBody>
      </p:sp>
      <p:sp>
        <p:nvSpPr>
          <p:cNvPr id="22" name="Shape 13"/>
          <p:cNvSpPr/>
          <p:nvPr/>
        </p:nvSpPr>
        <p:spPr>
          <a:xfrm>
            <a:off x="4983480" y="1325880"/>
            <a:ext cx="3840480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4"/>
          <p:cNvSpPr/>
          <p:nvPr/>
        </p:nvSpPr>
        <p:spPr>
          <a:xfrm>
            <a:off x="4983480" y="1325880"/>
            <a:ext cx="384048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Text 15"/>
          <p:cNvSpPr/>
          <p:nvPr/>
        </p:nvSpPr>
        <p:spPr>
          <a:xfrm>
            <a:off x="4983480" y="1325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Through RAG / Retrieval</a:t>
            </a:r>
            <a:endParaRPr lang="en-US" sz="12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6360" y="1920240"/>
            <a:ext cx="201168" cy="20116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468112" y="18836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documentation</a:t>
            </a:r>
            <a:endParaRPr lang="en-US" sz="11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66360" y="2322576"/>
            <a:ext cx="201168" cy="20116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468112" y="2286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runbooks</a:t>
            </a:r>
            <a:endParaRPr lang="en-US" sz="11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66360" y="2724912"/>
            <a:ext cx="201168" cy="201168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468112" y="26883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documentation</a:t>
            </a:r>
            <a:endParaRPr lang="en-US" sz="110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66360" y="3127248"/>
            <a:ext cx="201168" cy="201168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5468112" y="30906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records</a:t>
            </a:r>
            <a:endParaRPr lang="en-US" sz="110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66360" y="3529584"/>
            <a:ext cx="201168" cy="201168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468112" y="34930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&amp; procedures</a:t>
            </a:r>
            <a:endParaRPr lang="en-US" sz="1100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66360" y="3931920"/>
            <a:ext cx="201168" cy="201168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5468112" y="38953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</a:t>
            </a:r>
            <a:endParaRPr lang="en-US" sz="1100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66360" y="4334256"/>
            <a:ext cx="201168" cy="201168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5468112" y="42976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tickets &amp; configs</a:t>
            </a:r>
            <a:endParaRPr lang="en-US" sz="1100" dirty="0"/>
          </a:p>
        </p:txBody>
      </p:sp>
      <p:sp>
        <p:nvSpPr>
          <p:cNvPr id="39" name="Shape 23"/>
          <p:cNvSpPr/>
          <p:nvPr/>
        </p:nvSpPr>
        <p:spPr>
          <a:xfrm>
            <a:off x="4297680" y="283464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0" name="Text 24"/>
          <p:cNvSpPr/>
          <p:nvPr/>
        </p:nvSpPr>
        <p:spPr>
          <a:xfrm>
            <a:off x="429768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15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</a:t>
            </a:r>
            <a:endParaRPr lang="en-US" sz="1300" dirty="0"/>
          </a:p>
        </p:txBody>
      </p:sp>
      <p:pic>
        <p:nvPicPr>
          <p:cNvPr id="4" name="Image 0" descr="/mnt/user-data/uploads/Enterprise_AI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77240"/>
            <a:ext cx="8229600" cy="417543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3158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572000"/>
            <a:ext cx="85953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DB  ·  Azure AI Search  ·  vLLM  ·  PyTorch / LoRA  ·  Kubernetes  ·  OpenTelemetry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H100 GPU REQUEST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Phased allocation tied to measurable outcomes.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6908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4069080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77440" y="13716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1–2 H100s</a:t>
            </a:r>
            <a:endParaRPr lang="en-US" sz="2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88920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27614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baseline deployment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8680" y="31729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pipeline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11880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35844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fine-tuning (7B model)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23360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8680" y="39959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pilot: 20–30 users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800600" y="1371600"/>
            <a:ext cx="406908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800600" y="1371600"/>
            <a:ext cx="4069080" cy="56692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0" name="Text 14"/>
          <p:cNvSpPr/>
          <p:nvPr/>
        </p:nvSpPr>
        <p:spPr>
          <a:xfrm>
            <a:off x="4983480" y="13716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812280" y="13716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983480" y="205740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4–8 H100s</a:t>
            </a:r>
            <a:endParaRPr lang="en-US" sz="28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788920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03520" y="27614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Domain-adapted model (14B–32B)</a:t>
            </a:r>
            <a:endParaRPr lang="en-US" sz="11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200400"/>
            <a:ext cx="219456" cy="21945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03520" y="31729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workflow integration</a:t>
            </a:r>
            <a:endParaRPr lang="en-US" sz="11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3611880"/>
            <a:ext cx="219456" cy="21945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303520" y="35844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user rollout</a:t>
            </a:r>
            <a:endParaRPr lang="en-US" sz="11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4023360"/>
            <a:ext cx="219456" cy="219456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303520" y="39959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evaluation suite</a:t>
            </a:r>
            <a:endParaRPr lang="en-US" sz="1100" dirty="0"/>
          </a:p>
        </p:txBody>
      </p:sp>
      <p:sp>
        <p:nvSpPr>
          <p:cNvPr id="31" name="Shape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2" name="Text 22"/>
          <p:cNvSpPr/>
          <p:nvPr/>
        </p:nvSpPr>
        <p:spPr>
          <a:xfrm>
            <a:off x="274320" y="4709160"/>
            <a:ext cx="85953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H100 required for: LoRA fine-tuning  ·  Large-batch embedding generation  ·  Multi-agent inference  ·  Evaluation pipelines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SECURITY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regulated data leaves the internal perimeter.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069080" cy="1417320"/>
          </a:xfrm>
          <a:prstGeom prst="rect">
            <a:avLst/>
          </a:prstGeom>
          <a:solidFill>
            <a:srgbClr val="1A315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371600"/>
            <a:ext cx="109728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630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01952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integration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9456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21671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Identity-aware retrieval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487168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8680" y="24597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Access-controlled endpoints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754880" y="1371600"/>
            <a:ext cx="4069080" cy="1417320"/>
          </a:xfrm>
          <a:prstGeom prst="rect">
            <a:avLst/>
          </a:prstGeom>
          <a:solidFill>
            <a:srgbClr val="1A3158"/>
          </a:solidFill>
          <a:ln/>
        </p:spPr>
      </p:sp>
      <p:sp>
        <p:nvSpPr>
          <p:cNvPr id="15" name="Shape 10"/>
          <p:cNvSpPr/>
          <p:nvPr/>
        </p:nvSpPr>
        <p:spPr>
          <a:xfrm>
            <a:off x="4754880" y="1371600"/>
            <a:ext cx="109728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0" y="14630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901952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0352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PII/PCI filtering at ingestion</a:t>
            </a:r>
            <a:endParaRPr lang="en-US" sz="10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194560"/>
            <a:ext cx="182880" cy="1828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303520" y="21671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Internal-only inference</a:t>
            </a:r>
            <a:endParaRPr lang="en-US" sz="10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487168"/>
            <a:ext cx="182880" cy="1828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303520" y="24597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 preservation</a:t>
            </a:r>
            <a:endParaRPr lang="en-US" sz="1050" dirty="0"/>
          </a:p>
        </p:txBody>
      </p:sp>
      <p:sp>
        <p:nvSpPr>
          <p:cNvPr id="23" name="Shape 15"/>
          <p:cNvSpPr/>
          <p:nvPr/>
        </p:nvSpPr>
        <p:spPr>
          <a:xfrm>
            <a:off x="320040" y="2971800"/>
            <a:ext cx="4069080" cy="1417320"/>
          </a:xfrm>
          <a:prstGeom prst="rect">
            <a:avLst/>
          </a:prstGeom>
          <a:solidFill>
            <a:srgbClr val="1A3158"/>
          </a:solidFill>
          <a:ln/>
        </p:spPr>
      </p:sp>
      <p:sp>
        <p:nvSpPr>
          <p:cNvPr id="24" name="Shape 16"/>
          <p:cNvSpPr/>
          <p:nvPr/>
        </p:nvSpPr>
        <p:spPr>
          <a:xfrm>
            <a:off x="320040" y="2971800"/>
            <a:ext cx="109728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17"/>
          <p:cNvSpPr/>
          <p:nvPr/>
        </p:nvSpPr>
        <p:spPr>
          <a:xfrm>
            <a:off x="594360" y="30632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13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502152"/>
            <a:ext cx="182880" cy="1828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68680" y="3474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logging</a:t>
            </a:r>
            <a:endParaRPr lang="en-US" sz="105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3794760"/>
            <a:ext cx="182880" cy="18288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868680" y="3767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response monitoring</a:t>
            </a:r>
            <a:endParaRPr lang="en-US" sz="105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4087368"/>
            <a:ext cx="182880" cy="18288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868680" y="40599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version governance</a:t>
            </a:r>
            <a:endParaRPr lang="en-US" sz="1050" dirty="0"/>
          </a:p>
        </p:txBody>
      </p:sp>
      <p:sp>
        <p:nvSpPr>
          <p:cNvPr id="32" name="Shape 21"/>
          <p:cNvSpPr/>
          <p:nvPr/>
        </p:nvSpPr>
        <p:spPr>
          <a:xfrm>
            <a:off x="4754880" y="2971800"/>
            <a:ext cx="4069080" cy="1417320"/>
          </a:xfrm>
          <a:prstGeom prst="rect">
            <a:avLst/>
          </a:prstGeom>
          <a:solidFill>
            <a:srgbClr val="1A3158"/>
          </a:solidFill>
          <a:ln/>
        </p:spPr>
      </p:sp>
      <p:sp>
        <p:nvSpPr>
          <p:cNvPr id="33" name="Shape 22"/>
          <p:cNvSpPr/>
          <p:nvPr/>
        </p:nvSpPr>
        <p:spPr>
          <a:xfrm>
            <a:off x="4754880" y="2971800"/>
            <a:ext cx="109728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23"/>
          <p:cNvSpPr/>
          <p:nvPr/>
        </p:nvSpPr>
        <p:spPr>
          <a:xfrm>
            <a:off x="5029200" y="30632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Controls</a:t>
            </a:r>
            <a:endParaRPr lang="en-US" sz="13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3502152"/>
            <a:ext cx="182880" cy="18288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5303520" y="3474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for critical actions</a:t>
            </a:r>
            <a:endParaRPr lang="en-US" sz="1050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0" y="3794760"/>
            <a:ext cx="182880" cy="182880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5303520" y="3767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Citation-based responses</a:t>
            </a:r>
            <a:endParaRPr lang="en-US" sz="105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0" y="4087368"/>
            <a:ext cx="182880" cy="182880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5303520" y="40599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 benchmarking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TIMELINE &amp; SUCCESS CRITERIA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772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7772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92224"/>
            <a:ext cx="237744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74520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1856232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baseline + Confluence integration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03704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" y="2185416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pipeline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32888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1520" y="251460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pilot: 20–30 users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57200" y="29077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Targets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3218688"/>
            <a:ext cx="237744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10128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1520" y="329184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&gt;85% retrieval precision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39312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31520" y="3621024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&lt;10% hallucination rate</a:t>
            </a:r>
            <a:endParaRPr lang="en-US" sz="1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968496"/>
            <a:ext cx="182880" cy="1828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31520" y="395020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&lt;15s response latency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3200400" y="77724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3200400" y="777240"/>
            <a:ext cx="2743200" cy="5943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6" name="Text 18"/>
          <p:cNvSpPr/>
          <p:nvPr/>
        </p:nvSpPr>
        <p:spPr>
          <a:xfrm>
            <a:off x="3337560" y="7772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4572000" y="7772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Days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3383280" y="14813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3383280" y="1792224"/>
            <a:ext cx="237744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1874520"/>
            <a:ext cx="182880" cy="1828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3657600" y="1856232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domain model (7B)</a:t>
            </a:r>
            <a:endParaRPr lang="en-US" sz="10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2203704"/>
            <a:ext cx="182880" cy="18288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3657600" y="2185416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pipeline live</a:t>
            </a:r>
            <a:endParaRPr lang="en-US" sz="100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3280" y="2532888"/>
            <a:ext cx="182880" cy="18288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3657600" y="251460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knowledge coverage</a:t>
            </a:r>
            <a:endParaRPr lang="en-US" sz="1000" dirty="0"/>
          </a:p>
        </p:txBody>
      </p:sp>
      <p:sp>
        <p:nvSpPr>
          <p:cNvPr id="36" name="Text 25"/>
          <p:cNvSpPr/>
          <p:nvPr/>
        </p:nvSpPr>
        <p:spPr>
          <a:xfrm>
            <a:off x="3383280" y="29077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Targets</a:t>
            </a:r>
            <a:endParaRPr lang="en-US" sz="1100" dirty="0"/>
          </a:p>
        </p:txBody>
      </p:sp>
      <p:sp>
        <p:nvSpPr>
          <p:cNvPr id="37" name="Shape 26"/>
          <p:cNvSpPr/>
          <p:nvPr/>
        </p:nvSpPr>
        <p:spPr>
          <a:xfrm>
            <a:off x="3383280" y="3218688"/>
            <a:ext cx="237744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83280" y="3310128"/>
            <a:ext cx="182880" cy="18288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3657600" y="329184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25–35% search effort reduction</a:t>
            </a:r>
            <a:endParaRPr lang="en-US" sz="1000" dirty="0"/>
          </a:p>
        </p:txBody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83280" y="3639312"/>
            <a:ext cx="182880" cy="182880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3657600" y="3621024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troubleshooting consistency</a:t>
            </a:r>
            <a:endParaRPr lang="en-US" sz="1000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83280" y="3968496"/>
            <a:ext cx="182880" cy="182880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3657600" y="395020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completion accuracy</a:t>
            </a:r>
            <a:endParaRPr lang="en-US" sz="1000" dirty="0"/>
          </a:p>
        </p:txBody>
      </p:sp>
      <p:sp>
        <p:nvSpPr>
          <p:cNvPr id="44" name="Shape 30"/>
          <p:cNvSpPr/>
          <p:nvPr/>
        </p:nvSpPr>
        <p:spPr>
          <a:xfrm>
            <a:off x="6126480" y="77724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31"/>
          <p:cNvSpPr/>
          <p:nvPr/>
        </p:nvSpPr>
        <p:spPr>
          <a:xfrm>
            <a:off x="6126480" y="777240"/>
            <a:ext cx="2743200" cy="594360"/>
          </a:xfrm>
          <a:prstGeom prst="rect">
            <a:avLst/>
          </a:prstGeom>
          <a:solidFill>
            <a:srgbClr val="1A3158"/>
          </a:solidFill>
          <a:ln/>
        </p:spPr>
      </p:sp>
      <p:sp>
        <p:nvSpPr>
          <p:cNvPr id="46" name="Text 32"/>
          <p:cNvSpPr/>
          <p:nvPr/>
        </p:nvSpPr>
        <p:spPr>
          <a:xfrm>
            <a:off x="6263640" y="7772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400" dirty="0"/>
          </a:p>
        </p:txBody>
      </p:sp>
      <p:sp>
        <p:nvSpPr>
          <p:cNvPr id="47" name="Text 33"/>
          <p:cNvSpPr/>
          <p:nvPr/>
        </p:nvSpPr>
        <p:spPr>
          <a:xfrm>
            <a:off x="7498080" y="7772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60–90 Days</a:t>
            </a:r>
            <a:endParaRPr lang="en-US" sz="1000" dirty="0"/>
          </a:p>
        </p:txBody>
      </p:sp>
      <p:sp>
        <p:nvSpPr>
          <p:cNvPr id="48" name="Text 34"/>
          <p:cNvSpPr/>
          <p:nvPr/>
        </p:nvSpPr>
        <p:spPr>
          <a:xfrm>
            <a:off x="6309360" y="14813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49" name="Shape 35"/>
          <p:cNvSpPr/>
          <p:nvPr/>
        </p:nvSpPr>
        <p:spPr>
          <a:xfrm>
            <a:off x="6309360" y="1792224"/>
            <a:ext cx="237744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09360" y="1874520"/>
            <a:ext cx="182880" cy="182880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6583680" y="1856232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 integration</a:t>
            </a:r>
            <a:endParaRPr lang="en-US" sz="1000" dirty="0"/>
          </a:p>
        </p:txBody>
      </p:sp>
      <p:pic>
        <p:nvPicPr>
          <p:cNvPr id="5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09360" y="2203704"/>
            <a:ext cx="182880" cy="182880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6583680" y="2185416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dashboard live</a:t>
            </a:r>
            <a:endParaRPr lang="en-US" sz="1000" dirty="0"/>
          </a:p>
        </p:txBody>
      </p:sp>
      <p:pic>
        <p:nvPicPr>
          <p:cNvPr id="5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09360" y="2532888"/>
            <a:ext cx="182880" cy="182880"/>
          </a:xfrm>
          <a:prstGeom prst="rect">
            <a:avLst/>
          </a:prstGeom>
        </p:spPr>
      </p:pic>
      <p:sp>
        <p:nvSpPr>
          <p:cNvPr id="55" name="Text 38"/>
          <p:cNvSpPr/>
          <p:nvPr/>
        </p:nvSpPr>
        <p:spPr>
          <a:xfrm>
            <a:off x="6583680" y="251460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eval suite</a:t>
            </a:r>
            <a:endParaRPr lang="en-US" sz="1000" dirty="0"/>
          </a:p>
        </p:txBody>
      </p:sp>
      <p:sp>
        <p:nvSpPr>
          <p:cNvPr id="56" name="Text 39"/>
          <p:cNvSpPr/>
          <p:nvPr/>
        </p:nvSpPr>
        <p:spPr>
          <a:xfrm>
            <a:off x="6309360" y="29077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Targets</a:t>
            </a:r>
            <a:endParaRPr lang="en-US" sz="1100" dirty="0"/>
          </a:p>
        </p:txBody>
      </p:sp>
      <p:sp>
        <p:nvSpPr>
          <p:cNvPr id="57" name="Shape 40"/>
          <p:cNvSpPr/>
          <p:nvPr/>
        </p:nvSpPr>
        <p:spPr>
          <a:xfrm>
            <a:off x="6309360" y="3218688"/>
            <a:ext cx="237744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pic>
        <p:nvPicPr>
          <p:cNvPr id="5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09360" y="3310128"/>
            <a:ext cx="182880" cy="182880"/>
          </a:xfrm>
          <a:prstGeom prst="rect">
            <a:avLst/>
          </a:prstGeom>
        </p:spPr>
      </p:pic>
      <p:sp>
        <p:nvSpPr>
          <p:cNvPr id="59" name="Text 41"/>
          <p:cNvSpPr/>
          <p:nvPr/>
        </p:nvSpPr>
        <p:spPr>
          <a:xfrm>
            <a:off x="6583680" y="329184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MTTR for target workflows</a:t>
            </a:r>
            <a:endParaRPr lang="en-US" sz="1000" dirty="0"/>
          </a:p>
        </p:txBody>
      </p:sp>
      <p:pic>
        <p:nvPicPr>
          <p:cNvPr id="6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09360" y="3639312"/>
            <a:ext cx="182880" cy="182880"/>
          </a:xfrm>
          <a:prstGeom prst="rect">
            <a:avLst/>
          </a:prstGeom>
        </p:spPr>
      </p:pic>
      <p:sp>
        <p:nvSpPr>
          <p:cNvPr id="61" name="Text 42"/>
          <p:cNvSpPr/>
          <p:nvPr/>
        </p:nvSpPr>
        <p:spPr>
          <a:xfrm>
            <a:off x="6583680" y="3621024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repetitive escalations</a:t>
            </a:r>
            <a:endParaRPr lang="en-US" sz="1000" dirty="0"/>
          </a:p>
        </p:txBody>
      </p:sp>
      <p:pic>
        <p:nvPicPr>
          <p:cNvPr id="6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09360" y="3968496"/>
            <a:ext cx="182880" cy="182880"/>
          </a:xfrm>
          <a:prstGeom prst="rect">
            <a:avLst/>
          </a:prstGeom>
        </p:spPr>
      </p:pic>
      <p:sp>
        <p:nvSpPr>
          <p:cNvPr id="63" name="Text 43"/>
          <p:cNvSpPr/>
          <p:nvPr/>
        </p:nvSpPr>
        <p:spPr>
          <a:xfrm>
            <a:off x="6583680" y="395020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Production-readiness sign-off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640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188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Phase 1 Pilot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14400" y="2057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H100 GPU Allocation (1–2 units)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286000" y="2697480"/>
            <a:ext cx="45720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2926080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291840" y="289864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measurable pilot with defined success targets</a:t>
            </a:r>
            <a:endParaRPr lang="en-US" sz="13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340156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337413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GPU allocation — scale only on proven outcomes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387705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291840" y="384962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governance, security, and auditability from day one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Praveen Yellamaraju  ·  Senior Application Analyst  ·  Fiserv AI CoE Proposal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AI Assistant Platform - CoE Proposal</dc:title>
  <dc:subject>PptxGenJS Presentation</dc:subject>
  <dc:creator>PptxGenJS</dc:creator>
  <cp:lastModifiedBy>PptxGenJS</cp:lastModifiedBy>
  <cp:revision>1</cp:revision>
  <dcterms:created xsi:type="dcterms:W3CDTF">2026-05-10T16:19:19Z</dcterms:created>
  <dcterms:modified xsi:type="dcterms:W3CDTF">2026-05-10T16:19:19Z</dcterms:modified>
</cp:coreProperties>
</file>